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6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862C6B-ED2C-468D-89F2-675BAC93A7D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6E9B61-F673-4ED0-8943-32D3127A0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77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6E9B61-F673-4ED0-8943-32D3127A0DE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80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826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0"/>
            <a:ext cx="1728788" cy="5148264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319" y="842552"/>
            <a:ext cx="6593681" cy="1792358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319" y="2704030"/>
            <a:ext cx="6593681" cy="1242971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08133" y="4061409"/>
            <a:ext cx="2057400" cy="274097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7318" y="4061409"/>
            <a:ext cx="3843665" cy="274097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2684" y="4061407"/>
            <a:ext cx="578317" cy="274097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74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86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065406"/>
            <a:ext cx="7429500" cy="2141534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321344"/>
            <a:ext cx="7429500" cy="1032037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395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1688677"/>
            <a:ext cx="3658792" cy="265874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688677"/>
            <a:ext cx="3656408" cy="265874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64775"/>
            <a:ext cx="7429500" cy="11094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515" y="1688677"/>
            <a:ext cx="3487337" cy="618506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2307183"/>
            <a:ext cx="3658793" cy="20402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6" y="1688676"/>
            <a:ext cx="3484952" cy="618506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07183"/>
            <a:ext cx="3656408" cy="20402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70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309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107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457624"/>
            <a:ext cx="2892028" cy="123105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444911"/>
            <a:ext cx="4418407" cy="3902511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1688677"/>
            <a:ext cx="2892028" cy="265874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673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624"/>
            <a:ext cx="4450881" cy="123105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5541" y="457624"/>
            <a:ext cx="2750018" cy="3889798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1688677"/>
            <a:ext cx="4450883" cy="265874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860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3231488"/>
            <a:ext cx="7434266" cy="615085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455241"/>
            <a:ext cx="7434266" cy="2477125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3846574"/>
            <a:ext cx="7433144" cy="5123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74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457623"/>
            <a:ext cx="7429466" cy="2574132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317769"/>
            <a:ext cx="7428344" cy="1029652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961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623"/>
            <a:ext cx="6977064" cy="2063231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526505"/>
            <a:ext cx="6564224" cy="41210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235433"/>
            <a:ext cx="7429502" cy="1118156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677634" y="549804"/>
            <a:ext cx="457200" cy="43898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3028" y="2075649"/>
            <a:ext cx="457200" cy="43898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2245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602013"/>
            <a:ext cx="7429501" cy="1885621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3496476"/>
            <a:ext cx="7428379" cy="856275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08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457623"/>
            <a:ext cx="7429499" cy="143007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007705"/>
            <a:ext cx="2397674" cy="51482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45939" y="2522531"/>
            <a:ext cx="2406551" cy="182489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010086"/>
            <a:ext cx="2388289" cy="51482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78160" y="2524912"/>
            <a:ext cx="2396873" cy="182489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007705"/>
            <a:ext cx="2396226" cy="51482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2522531"/>
            <a:ext cx="2396226" cy="182489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933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457623"/>
            <a:ext cx="7429499" cy="143007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3306506"/>
            <a:ext cx="2396430" cy="4325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002101"/>
            <a:ext cx="2396430" cy="1144058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3739103"/>
            <a:ext cx="2396430" cy="61395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3306506"/>
            <a:ext cx="2400300" cy="4325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002101"/>
            <a:ext cx="2399205" cy="1144058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3739102"/>
            <a:ext cx="2400300" cy="60831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3306505"/>
            <a:ext cx="2393056" cy="4325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002101"/>
            <a:ext cx="2396227" cy="1144058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3739100"/>
            <a:ext cx="2396226" cy="6083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929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0444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457623"/>
            <a:ext cx="1503758" cy="388979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457623"/>
            <a:ext cx="5811443" cy="38897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11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826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0716" y="0"/>
            <a:ext cx="9040416" cy="5148264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64318"/>
            <a:ext cx="7429499" cy="11099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1688678"/>
            <a:ext cx="7429499" cy="26587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4416544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6543"/>
            <a:ext cx="4679482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4416542"/>
            <a:ext cx="578317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4308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889" r:id="rId13"/>
    <p:sldLayoutId id="2147483890" r:id="rId14"/>
    <p:sldLayoutId id="2147483891" r:id="rId15"/>
    <p:sldLayoutId id="2147483892" r:id="rId16"/>
    <p:sldLayoutId id="2147483893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8072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GNN-DynPen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832104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 dirty="0">
                <a:solidFill>
                  <a:srgbClr val="B0BBC4"/>
                </a:solidFill>
                <a:latin typeface="Calibri"/>
              </a:rPr>
              <a:t>Graph Neural Network State Representation
for Scalable </a:t>
            </a:r>
            <a:r>
              <a:rPr sz="1900" b="0" i="0" dirty="0" smtClean="0">
                <a:solidFill>
                  <a:srgbClr val="B0BBC4"/>
                </a:solidFill>
                <a:latin typeface="Calibri"/>
              </a:rPr>
              <a:t>R</a:t>
            </a:r>
            <a:r>
              <a:rPr lang="en-US" sz="1900" b="0" i="0" dirty="0" smtClean="0">
                <a:solidFill>
                  <a:srgbClr val="B0BBC4"/>
                </a:solidFill>
                <a:latin typeface="Calibri"/>
              </a:rPr>
              <a:t>einforcement Learning</a:t>
            </a:r>
            <a:r>
              <a:rPr sz="1900" b="0" i="0" dirty="0" smtClean="0">
                <a:solidFill>
                  <a:srgbClr val="B0BBC4"/>
                </a:solidFill>
                <a:latin typeface="Calibri"/>
              </a:rPr>
              <a:t> </a:t>
            </a:r>
            <a:r>
              <a:rPr sz="1900" b="0" i="0" dirty="0">
                <a:solidFill>
                  <a:srgbClr val="B0BBC4"/>
                </a:solidFill>
                <a:latin typeface="Calibri"/>
              </a:rPr>
              <a:t>Penetration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33472"/>
            <a:ext cx="4114800" cy="36576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8229600" cy="164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sz="1400" dirty="0">
                <a:solidFill>
                  <a:srgbClr val="B0BBC4"/>
                </a:solidFill>
                <a:latin typeface="Calibri"/>
              </a:rPr>
              <a:t>P</a:t>
            </a:r>
            <a:r>
              <a:rPr lang="en-US" sz="1400" dirty="0" smtClean="0">
                <a:solidFill>
                  <a:srgbClr val="B0BBC4"/>
                </a:solidFill>
                <a:latin typeface="Calibri"/>
              </a:rPr>
              <a:t>resented by: Abdul Hameed Khan</a:t>
            </a:r>
            <a:endParaRPr sz="1400" dirty="0" smtClean="0">
              <a:solidFill>
                <a:srgbClr val="B0BBC4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lang="en-US" sz="1400" dirty="0" err="1" smtClean="0">
                <a:solidFill>
                  <a:srgbClr val="B0BBC4"/>
                </a:solidFill>
                <a:latin typeface="Calibri"/>
              </a:rPr>
              <a:t>Reg</a:t>
            </a:r>
            <a:r>
              <a:rPr lang="en-US" sz="1400" dirty="0" smtClean="0">
                <a:solidFill>
                  <a:srgbClr val="B0BBC4"/>
                </a:solidFill>
                <a:latin typeface="Calibri"/>
              </a:rPr>
              <a:t> No: CS2627</a:t>
            </a:r>
          </a:p>
          <a:p>
            <a:pPr>
              <a:spcAft>
                <a:spcPts val="500"/>
              </a:spcAft>
            </a:pPr>
            <a:endParaRPr sz="1300" dirty="0" smtClean="0">
              <a:solidFill>
                <a:srgbClr val="B0BBC4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lang="en-US" sz="1300" dirty="0" smtClean="0">
                <a:solidFill>
                  <a:srgbClr val="B0BBC4"/>
                </a:solidFill>
                <a:latin typeface="Calibri"/>
              </a:rPr>
              <a:t>													Supervisor</a:t>
            </a:r>
            <a:r>
              <a:rPr sz="1300" dirty="0" smtClean="0">
                <a:solidFill>
                  <a:srgbClr val="B0BBC4"/>
                </a:solidFill>
                <a:latin typeface="Calibri"/>
              </a:rPr>
              <a:t>: </a:t>
            </a:r>
            <a:r>
              <a:rPr lang="en-US" sz="1300" dirty="0" smtClean="0">
                <a:solidFill>
                  <a:srgbClr val="B0BBC4"/>
                </a:solidFill>
                <a:latin typeface="Calibri"/>
              </a:rPr>
              <a:t>Dr. Sarah Iqbal</a:t>
            </a:r>
          </a:p>
          <a:p>
            <a:pPr>
              <a:spcAft>
                <a:spcPts val="500"/>
              </a:spcAft>
            </a:pPr>
            <a:endParaRPr lang="en-US" sz="1300" dirty="0" smtClean="0">
              <a:solidFill>
                <a:srgbClr val="B0BBC4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lang="en-US" sz="1300" dirty="0" smtClean="0">
                <a:solidFill>
                  <a:srgbClr val="B0BBC4"/>
                </a:solidFill>
                <a:latin typeface="Calibri"/>
              </a:rPr>
              <a:t>Ghulam </a:t>
            </a:r>
            <a:r>
              <a:rPr lang="en-US" sz="1300" dirty="0" err="1" smtClean="0">
                <a:solidFill>
                  <a:srgbClr val="B0BBC4"/>
                </a:solidFill>
                <a:latin typeface="Calibri"/>
              </a:rPr>
              <a:t>Ishaq</a:t>
            </a:r>
            <a:r>
              <a:rPr lang="en-US" sz="1300" dirty="0" smtClean="0">
                <a:solidFill>
                  <a:srgbClr val="B0BBC4"/>
                </a:solidFill>
                <a:latin typeface="Calibri"/>
              </a:rPr>
              <a:t> Khan </a:t>
            </a:r>
            <a:r>
              <a:rPr lang="en-US" sz="1300" dirty="0" err="1" smtClean="0">
                <a:solidFill>
                  <a:srgbClr val="B0BBC4"/>
                </a:solidFill>
                <a:latin typeface="Calibri"/>
              </a:rPr>
              <a:t>Institue</a:t>
            </a:r>
            <a:r>
              <a:rPr lang="en-US" sz="1300" dirty="0" smtClean="0">
                <a:solidFill>
                  <a:srgbClr val="B0BBC4"/>
                </a:solidFill>
                <a:latin typeface="Calibri"/>
              </a:rPr>
              <a:t> of Engineering &amp; Technology</a:t>
            </a:r>
            <a:endParaRPr sz="1300" dirty="0">
              <a:solidFill>
                <a:srgbClr val="B0BBC4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16459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B3A"/>
                </a:solidFill>
                <a:latin typeface="Calibri"/>
              </a:rPr>
              <a:t>Introduction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65836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70"/>
                </a:solidFill>
                <a:latin typeface="Calibri"/>
              </a:rPr>
              <a:t>Why do automated penetration testing agents struggle with real networks?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914400"/>
            <a:ext cx="8741664" cy="22860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1168" y="1051560"/>
            <a:ext cx="420624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1168" y="1051560"/>
            <a:ext cx="4206240" cy="347472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0896" y="1088136"/>
            <a:ext cx="4041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1453895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Modern enterprise networks change constantly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709928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hosts added/removed, firewall rules updated,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1965960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vulnerabilities patched at runtime.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2221991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" y="2478024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Existing RL-based PT agents (e.g. DynPen)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" y="2734056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use a fixed-size flat state vector tied to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2990088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specific network size.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" y="3246120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0896" y="3502152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→ Any change in topology forces full retraining.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" y="3758184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→ Not practical for real-world deployments.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44568" y="1051560"/>
            <a:ext cx="4407408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44568" y="1051560"/>
            <a:ext cx="4407408" cy="347472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54296" y="1088136"/>
            <a:ext cx="4242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145389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Replace the flat matrix with a Graph Neural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170992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Network (GNN) encoder.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4296" y="19659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54296" y="2221991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GNN produces size-invariant, permutation-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4296" y="247802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invariant embeddings — one policy works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4296" y="273405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across networks of any topology.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4296" y="299008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54296" y="32461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Key benefits: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54296" y="350215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  • Zero-shot transfer to new topologies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375818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  • Faster recovery after topology changes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54296" y="401421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  • Scalable action parameterisation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16459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B3A"/>
                </a:solidFill>
                <a:latin typeface="Calibri"/>
              </a:rPr>
              <a:t>Related Work &amp; 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65836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70"/>
                </a:solidFill>
                <a:latin typeface="Calibri"/>
              </a:rPr>
              <a:t>Key papers this project builds upon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914400"/>
            <a:ext cx="8741664" cy="22860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1168" y="1051560"/>
            <a:ext cx="42976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1168" y="1051560"/>
            <a:ext cx="54864" cy="1234440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" y="110642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  <a:latin typeface="Calibri"/>
              </a:rPr>
              <a:t>DynPen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380743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C8EC2"/>
                </a:solidFill>
                <a:latin typeface="Calibri"/>
              </a:rPr>
              <a:t>Li et al., IEEE TIFS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1618488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0"/>
                </a:solidFill>
                <a:latin typeface="Calibri"/>
              </a:rPr>
              <a:t>RL-based PT with trajectory logging, monitoring &amp; backtracking for dynamic networks. Direct baseline.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2368296"/>
            <a:ext cx="42976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1168" y="2368296"/>
            <a:ext cx="54864" cy="1234440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" y="242316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1C2B3A"/>
                </a:solidFill>
                <a:latin typeface="Calibri"/>
              </a:rPr>
              <a:t>NASim</a:t>
            </a:r>
            <a:endParaRPr sz="1300" b="1" i="0" dirty="0">
              <a:solidFill>
                <a:srgbClr val="1C2B3A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8328" y="2697479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4C8EC2"/>
                </a:solidFill>
                <a:latin typeface="Calibri"/>
              </a:rPr>
              <a:t>Schwartz &amp; </a:t>
            </a:r>
            <a:r>
              <a:rPr sz="1000" b="0" i="1" dirty="0" err="1">
                <a:solidFill>
                  <a:srgbClr val="4C8EC2"/>
                </a:solidFill>
                <a:latin typeface="Calibri"/>
              </a:rPr>
              <a:t>Kurniawati</a:t>
            </a:r>
            <a:r>
              <a:rPr sz="1000" b="0" i="1" dirty="0">
                <a:solidFill>
                  <a:srgbClr val="4C8EC2"/>
                </a:solidFill>
                <a:latin typeface="Calibri"/>
              </a:rPr>
              <a:t>, 2019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2935224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0"/>
                </a:solidFill>
                <a:latin typeface="Calibri"/>
              </a:rPr>
              <a:t>Network Attack Simulator — Gym-compatible, YAML-configurable PT environment.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3685031"/>
            <a:ext cx="42976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1168" y="3685031"/>
            <a:ext cx="54864" cy="1234440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8" y="3739895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1C2B3A"/>
                </a:solidFill>
                <a:latin typeface="Calibri"/>
              </a:rPr>
              <a:t>GraphSAGE</a:t>
            </a:r>
            <a:endParaRPr sz="1300" b="1" i="0" dirty="0">
              <a:solidFill>
                <a:srgbClr val="1C2B3A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8328" y="4014215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4C8EC2"/>
                </a:solidFill>
                <a:latin typeface="Calibri"/>
              </a:rPr>
              <a:t>Hamilton et al., </a:t>
            </a:r>
            <a:r>
              <a:rPr sz="1000" b="0" i="1" dirty="0" err="1">
                <a:solidFill>
                  <a:srgbClr val="4C8EC2"/>
                </a:solidFill>
                <a:latin typeface="Calibri"/>
              </a:rPr>
              <a:t>NeurIPS</a:t>
            </a:r>
            <a:r>
              <a:rPr sz="1000" b="0" i="1" dirty="0">
                <a:solidFill>
                  <a:srgbClr val="4C8EC2"/>
                </a:solidFill>
                <a:latin typeface="Calibri"/>
              </a:rPr>
              <a:t> 2017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4251959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0"/>
                </a:solidFill>
                <a:latin typeface="Calibri"/>
              </a:rPr>
              <a:t>Inductive GNN via neighbourhood aggregation. Handles variable-size graphs natively.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1728" y="1051560"/>
            <a:ext cx="42976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81728" y="1051560"/>
            <a:ext cx="54864" cy="1234440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18888" y="110642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C2B3A"/>
                </a:solidFill>
                <a:latin typeface="Calibri"/>
              </a:rPr>
              <a:t>GAT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1380743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 err="1">
                <a:solidFill>
                  <a:srgbClr val="4C8EC2"/>
                </a:solidFill>
                <a:latin typeface="Calibri"/>
              </a:rPr>
              <a:t>Veličković</a:t>
            </a:r>
            <a:r>
              <a:rPr sz="1000" b="0" i="1" dirty="0">
                <a:solidFill>
                  <a:srgbClr val="4C8EC2"/>
                </a:solidFill>
                <a:latin typeface="Calibri"/>
              </a:rPr>
              <a:t> et al., ICLR 2018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18888" y="1618488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0"/>
                </a:solidFill>
                <a:latin typeface="Calibri"/>
              </a:rPr>
              <a:t>Graph Attention Network — attention-weighted message passing. Expressive alternative to SAGE.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81728" y="2368296"/>
            <a:ext cx="42976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81728" y="2368296"/>
            <a:ext cx="54864" cy="1234440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18888" y="242316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1C2B3A"/>
                </a:solidFill>
                <a:latin typeface="Calibri"/>
              </a:rPr>
              <a:t>DeepExploit</a:t>
            </a:r>
            <a:endParaRPr sz="1300" b="1" i="0" dirty="0">
              <a:solidFill>
                <a:srgbClr val="1C2B3A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18888" y="2697479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 err="1">
                <a:solidFill>
                  <a:srgbClr val="4C8EC2"/>
                </a:solidFill>
                <a:latin typeface="Calibri"/>
              </a:rPr>
              <a:t>Isozaki</a:t>
            </a:r>
            <a:r>
              <a:rPr sz="1000" b="0" i="1" dirty="0">
                <a:solidFill>
                  <a:srgbClr val="4C8EC2"/>
                </a:solidFill>
                <a:latin typeface="Calibri"/>
              </a:rPr>
              <a:t> et al., 2018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2935224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556570"/>
                </a:solidFill>
                <a:latin typeface="Calibri"/>
              </a:rPr>
              <a:t>Early DRL-based PT; fixed action space, single topology — highlights scalability gap.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81728" y="3685031"/>
            <a:ext cx="42976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681728" y="3685031"/>
            <a:ext cx="54864" cy="1234440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18888" y="3739895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1C2B3A"/>
                </a:solidFill>
                <a:latin typeface="Calibri"/>
              </a:rPr>
              <a:t>CyberBattleSim</a:t>
            </a:r>
            <a:endParaRPr sz="1300" b="1" i="0" dirty="0">
              <a:solidFill>
                <a:srgbClr val="1C2B3A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18888" y="4014215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4C8EC2"/>
                </a:solidFill>
                <a:latin typeface="Calibri"/>
              </a:rPr>
              <a:t>Microsoft Research, 2021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8888" y="4251959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0"/>
                </a:solidFill>
                <a:latin typeface="Calibri"/>
              </a:rPr>
              <a:t>Large-scale network simulation with heterogeneous hosts; motivates graph-based state.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16459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B3A"/>
                </a:solidFill>
                <a:latin typeface="Calibri"/>
              </a:rP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658368"/>
            <a:ext cx="8686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556570"/>
                </a:solidFill>
                <a:latin typeface="Calibri"/>
              </a:rPr>
              <a:t>What </a:t>
            </a:r>
            <a:r>
              <a:rPr sz="1300" b="0" i="1" dirty="0" err="1">
                <a:solidFill>
                  <a:srgbClr val="556570"/>
                </a:solidFill>
                <a:latin typeface="Calibri"/>
              </a:rPr>
              <a:t>DynPen</a:t>
            </a:r>
            <a:r>
              <a:rPr sz="1300" b="0" i="1" dirty="0">
                <a:solidFill>
                  <a:srgbClr val="556570"/>
                </a:solidFill>
                <a:latin typeface="Calibri"/>
              </a:rPr>
              <a:t> cannot do </a:t>
            </a:r>
            <a:r>
              <a:rPr sz="1300" b="0" i="1" dirty="0" smtClean="0">
                <a:solidFill>
                  <a:srgbClr val="556570"/>
                </a:solidFill>
                <a:latin typeface="Calibri"/>
              </a:rPr>
              <a:t>and </a:t>
            </a:r>
            <a:r>
              <a:rPr sz="1300" b="0" i="1" dirty="0">
                <a:solidFill>
                  <a:srgbClr val="556570"/>
                </a:solidFill>
                <a:latin typeface="Calibri"/>
              </a:rPr>
              <a:t>what this project addresses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914400"/>
            <a:ext cx="8741664" cy="22860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1168" y="1051560"/>
            <a:ext cx="8741664" cy="96012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15568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DynPen knows WHEN to adapt (detect drift → backtrack → replan).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CC5C"/>
                </a:solidFill>
                <a:latin typeface="Calibri"/>
              </a:rPr>
              <a:t>It does not know HOW to encode state so adaptation costs less.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2240280"/>
            <a:ext cx="2834640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01168" y="2240280"/>
            <a:ext cx="2834640" cy="347472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" y="227685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❶  Fixed Input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79192"/>
            <a:ext cx="26334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0"/>
                </a:solidFill>
                <a:latin typeface="Calibri"/>
              </a:rPr>
              <a:t>DynPen's network must be pre-set to max hosts.
New or removed hosts break the architecture.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72968" y="2240280"/>
            <a:ext cx="2834640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72968" y="2240280"/>
            <a:ext cx="2834640" cy="347472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64408" y="227685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❷  Quadratic Action 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4408" y="2679192"/>
            <a:ext cx="26334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0"/>
                </a:solidFill>
                <a:latin typeface="Calibri"/>
              </a:rPr>
              <a:t>All (src, dst, exploit) triples enumerated.
O(N²×V) — explodes with larger networks.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2240280"/>
            <a:ext cx="2834640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44768" y="2240280"/>
            <a:ext cx="2834640" cy="347472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36207" y="227685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❸  No Transfer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679192"/>
            <a:ext cx="26334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0"/>
                </a:solidFill>
                <a:latin typeface="Calibri"/>
              </a:rPr>
              <a:t>Policy trained on one topology cannot transfer.
Every network size = full new training run.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4736592"/>
            <a:ext cx="8741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4C8EC2"/>
                </a:solidFill>
                <a:latin typeface="Calibri"/>
              </a:rPr>
              <a:t>→ GNN-</a:t>
            </a:r>
            <a:r>
              <a:rPr sz="1300" b="1" i="0" dirty="0" err="1">
                <a:solidFill>
                  <a:srgbClr val="4C8EC2"/>
                </a:solidFill>
                <a:latin typeface="Calibri"/>
              </a:rPr>
              <a:t>DynPen</a:t>
            </a:r>
            <a:r>
              <a:rPr sz="1300" b="1" i="0" dirty="0">
                <a:solidFill>
                  <a:srgbClr val="4C8EC2"/>
                </a:solidFill>
                <a:latin typeface="Calibri"/>
              </a:rPr>
              <a:t> addresses ALL THREE gaps.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16459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B3A"/>
                </a:solidFill>
                <a:latin typeface="Calibri"/>
              </a:rPr>
              <a:t>Our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65836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70"/>
                </a:solidFill>
                <a:latin typeface="Calibri"/>
              </a:rPr>
              <a:t>Five key innovations over the DynPen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914400"/>
            <a:ext cx="8741664" cy="22860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1168" y="1078992"/>
            <a:ext cx="2834640" cy="166420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1168" y="1078992"/>
            <a:ext cx="54864" cy="1664208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" y="1152144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  <a:latin typeface="Calibri"/>
              </a:rPr>
              <a:t>① GNN State Encoder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517904"/>
            <a:ext cx="26334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Replaced flat host matrix with GraphSAGE / GAT encoder.
Outputs permutation-invariant per-node embeddings (N×64).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72968" y="1078992"/>
            <a:ext cx="2834640" cy="166420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72968" y="1078992"/>
            <a:ext cx="54864" cy="1664208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00984" y="1152144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  <a:latin typeface="Calibri"/>
              </a:rPr>
              <a:t>② Variable Action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0984" y="1517904"/>
            <a:ext cx="26334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Q(s,a) = MLP([graph_emb ⊕ node_emb ⊕ action_onehot])
Scores (node, template) pairs — O(N×K), not O(N²×V).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078992"/>
            <a:ext cx="2834640" cy="166420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44768" y="1078992"/>
            <a:ext cx="54864" cy="16642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72783" y="1152144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  <a:latin typeface="Calibri"/>
              </a:rPr>
              <a:t>③ Zero-shot Transfer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3" y="1517904"/>
            <a:ext cx="26334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One trained GNN policy works on any topology size
without re-architecting or retraining the network.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" y="2880360"/>
            <a:ext cx="4206240" cy="166420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01168" y="2880360"/>
            <a:ext cx="54864" cy="16642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9184" y="2953512"/>
            <a:ext cx="4005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  <a:latin typeface="Calibri"/>
              </a:rPr>
              <a:t>④ Online Fine-tuning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" y="3319272"/>
            <a:ext cx="40050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After a topology change, brief fine-tuning (200 steps)
recovers performance faster than full retraining.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36007" y="2880360"/>
            <a:ext cx="4206240" cy="166420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36007" y="2880360"/>
            <a:ext cx="54864" cy="1664208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64023" y="2953512"/>
            <a:ext cx="4005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  <a:latin typeface="Calibri"/>
              </a:rPr>
              <a:t>⑤ Backtracking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4023" y="3319272"/>
            <a:ext cx="40050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DynPen's trajectory logger + monitoring + backtracking
integrated on top of the GNN agent for RQ4 ablation.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16459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B3A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65836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70"/>
                </a:solidFill>
                <a:latin typeface="Calibri"/>
              </a:rPr>
              <a:t>End-to-end GNN-DynPen agent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914400"/>
            <a:ext cx="8741664" cy="22860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1168" y="1115568"/>
            <a:ext cx="1828800" cy="105156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" y="1170432"/>
            <a:ext cx="16824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NASim
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609344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EFF"/>
                </a:solidFill>
                <a:latin typeface="Calibri"/>
              </a:rPr>
              <a:t>Graph G=(V,E)
host obs · rewards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115568"/>
            <a:ext cx="2103120" cy="1051560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77440" y="1170432"/>
            <a:ext cx="195681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GNN Encoder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609344"/>
            <a:ext cx="19568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FFDD"/>
                </a:solidFill>
                <a:latin typeface="Calibri"/>
              </a:rPr>
              <a:t>GraphSAGE / GAT
node_embs (N×64)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45152" y="1115568"/>
            <a:ext cx="2103120" cy="1051560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170432"/>
            <a:ext cx="195681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Policy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1609344"/>
            <a:ext cx="19568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FFDD"/>
                </a:solidFill>
                <a:latin typeface="Calibri"/>
              </a:rPr>
              <a:t>Q(s,a) = MLP(
graph⊕node⊕type)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1115568"/>
            <a:ext cx="1993392" cy="105156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79" y="1170432"/>
            <a:ext cx="18470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Action
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1609344"/>
            <a:ext cx="1847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FFDD"/>
                </a:solidFill>
                <a:latin typeface="Calibri"/>
              </a:rPr>
              <a:t>exploit / scan
NASim step()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29968" y="1536192"/>
            <a:ext cx="256032" cy="45720"/>
          </a:xfrm>
          <a:prstGeom prst="rect">
            <a:avLst/>
          </a:prstGeom>
          <a:solidFill>
            <a:srgbClr val="B0B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89120" y="1536192"/>
            <a:ext cx="256032" cy="45720"/>
          </a:xfrm>
          <a:prstGeom prst="rect">
            <a:avLst/>
          </a:prstGeom>
          <a:solidFill>
            <a:srgbClr val="B0B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748272" y="1536192"/>
            <a:ext cx="256032" cy="45720"/>
          </a:xfrm>
          <a:prstGeom prst="rect">
            <a:avLst/>
          </a:prstGeom>
          <a:solidFill>
            <a:srgbClr val="B0B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01168" y="2487168"/>
            <a:ext cx="8741664" cy="36576"/>
          </a:xfrm>
          <a:prstGeom prst="rect">
            <a:avLst/>
          </a:prstGeom>
          <a:solidFill>
            <a:srgbClr val="B0B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01168" y="2578608"/>
            <a:ext cx="2834640" cy="109728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2608" y="2624327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Trajectory Logger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3017520"/>
            <a:ext cx="26883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E0B0"/>
                </a:solidFill>
                <a:latin typeface="Calibri"/>
              </a:rPr>
              <a:t>Records (s,a,r,G) tuples
Replayable attack path history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18688" y="2578608"/>
            <a:ext cx="2834640" cy="109728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10128" y="2624327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Monitoring Module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0128" y="3017520"/>
            <a:ext cx="26883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E0B0"/>
                </a:solidFill>
                <a:latin typeface="Calibri"/>
              </a:rPr>
              <a:t>Periodic critical-node rescan
Detects Δ topology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8" y="2578608"/>
            <a:ext cx="2706624" cy="109728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27648" y="2624327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Backtrack Module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01752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E0B0"/>
                </a:solidFill>
                <a:latin typeface="Calibri"/>
              </a:rPr>
              <a:t>Invalidates stale subtree
Rolls back to valid ancestor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" y="3749039"/>
            <a:ext cx="8741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6570"/>
                </a:solidFill>
                <a:latin typeface="Calibri"/>
              </a:rPr>
              <a:t>DynPen Adaptation Layer (RQ4)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16459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B3A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65836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70"/>
                </a:solidFill>
                <a:latin typeface="Calibri"/>
              </a:rPr>
              <a:t>MDP formulation, GNN design choices, and training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914400"/>
            <a:ext cx="8741664" cy="22860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1168" y="10789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B3A"/>
                </a:solidFill>
                <a:latin typeface="Calibri"/>
              </a:rPr>
              <a:t>MDP Formulation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508760"/>
            <a:ext cx="1234440" cy="32918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" y="1527048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C2B3A"/>
                </a:solidFill>
                <a:latin typeface="Calibri"/>
              </a:rPr>
              <a:t>State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27048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Dynamic graph  G_t = (V_t, E_t, X_t)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1911095"/>
            <a:ext cx="1234440" cy="32918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" y="1929384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C2B3A"/>
                </a:solidFill>
                <a:latin typeface="Calibri"/>
              </a:rPr>
              <a:t>Actions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929384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Variable set of (node v, template k) pairs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313432"/>
            <a:ext cx="1234440" cy="32918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032" y="2331720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C2B3A"/>
                </a:solidFill>
                <a:latin typeface="Calibri"/>
              </a:rPr>
              <a:t>Reward 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331720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Sparse: +goal, −step-cost, −honeypot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2715768"/>
            <a:ext cx="1234440" cy="32918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6032" y="273405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C2B3A"/>
                </a:solidFill>
                <a:latin typeface="Calibri"/>
              </a:rPr>
              <a:t>Transition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734056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Stochastic (NASim probabilistic exploit)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3118103"/>
            <a:ext cx="1234440" cy="32918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" y="3136391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C2B3A"/>
                </a:solidFill>
                <a:latin typeface="Calibri"/>
              </a:rPr>
              <a:t>Discount 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136391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0.99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107899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B3A"/>
                </a:solidFill>
                <a:latin typeface="Calibri"/>
              </a:rPr>
              <a:t>Key Hyperparameters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1508760"/>
            <a:ext cx="1828800" cy="32918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152704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  <a:latin typeface="Calibri"/>
              </a:rPr>
              <a:t>GNN 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152704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0"/>
                </a:solidFill>
                <a:latin typeface="Calibri"/>
              </a:rPr>
              <a:t>GraphSAGE, 3 layers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1911095"/>
            <a:ext cx="1828800" cy="32918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63440" y="192938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  <a:latin typeface="Calibri"/>
              </a:rPr>
              <a:t>Embed dim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1929384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0"/>
                </a:solidFill>
                <a:latin typeface="Calibri"/>
              </a:rPr>
              <a:t>64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2313432"/>
            <a:ext cx="1828800" cy="32918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63440" y="23317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  <a:latin typeface="Calibri"/>
              </a:rPr>
              <a:t>Learning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233172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0"/>
                </a:solidFill>
                <a:latin typeface="Calibri"/>
              </a:rPr>
              <a:t>5×10⁻⁴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2715768"/>
            <a:ext cx="1828800" cy="32918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63440" y="273405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  <a:latin typeface="Calibri"/>
              </a:rPr>
              <a:t>Replay buffer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273405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0"/>
                </a:solidFill>
                <a:latin typeface="Calibri"/>
              </a:rPr>
              <a:t>50,000 graphs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3118103"/>
            <a:ext cx="1828800" cy="32918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63440" y="3136391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  <a:latin typeface="Calibri"/>
              </a:rPr>
              <a:t>Batch size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0528" y="3136391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0"/>
                </a:solidFill>
                <a:latin typeface="Calibri"/>
              </a:rPr>
              <a:t>32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3520439"/>
            <a:ext cx="1828800" cy="32918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63440" y="3538727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  <a:latin typeface="Calibri"/>
              </a:rPr>
              <a:t>ε decay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3538727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0"/>
                </a:solidFill>
                <a:latin typeface="Calibri"/>
              </a:rPr>
              <a:t>1.0 → 0.05 over 50k steps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7720" y="3922776"/>
            <a:ext cx="1828800" cy="32918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63440" y="3941063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  <a:latin typeface="Calibri"/>
              </a:rPr>
              <a:t>Target update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0528" y="3941063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0"/>
                </a:solidFill>
                <a:latin typeface="Calibri"/>
              </a:rPr>
              <a:t>Every 500 steps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17720" y="4325112"/>
            <a:ext cx="1828800" cy="32918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663440" y="43434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  <a:latin typeface="Calibri"/>
              </a:rPr>
              <a:t>Total steps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10528" y="434340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0"/>
                </a:solidFill>
                <a:latin typeface="Calibri"/>
              </a:rPr>
              <a:t>200,000 per seed × 5 seeds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16459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B3A"/>
                </a:solidFill>
                <a:latin typeface="Calibri"/>
              </a:rPr>
              <a:t>Experimental Setup &amp; 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65836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70"/>
                </a:solidFill>
                <a:latin typeface="Calibri"/>
              </a:rPr>
              <a:t>Four RQs, NASim scenarios, five seeds 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914400"/>
            <a:ext cx="8741664" cy="22860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1168" y="1078992"/>
            <a:ext cx="4297680" cy="1755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1168" y="1078992"/>
            <a:ext cx="502920" cy="1755648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5176" y="1673352"/>
            <a:ext cx="4023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152144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3A"/>
                </a:solidFill>
                <a:latin typeface="Calibri"/>
              </a:rPr>
              <a:t>Does GNN-DynPen converge on par with the baseline on the training topology?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01168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0"/>
                </a:solidFill>
                <a:latin typeface="Calibri"/>
              </a:rPr>
              <a:t>Criterion: GNN return ≥ 90% of Baseline DQN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1728" y="1078992"/>
            <a:ext cx="4297680" cy="1755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81728" y="1078992"/>
            <a:ext cx="502920" cy="1755648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45736" y="1673352"/>
            <a:ext cx="4023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1152144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3A"/>
                </a:solidFill>
                <a:latin typeface="Calibri"/>
              </a:rPr>
              <a:t>Does the GNN policy generalise zero-shot to unseen topology sizes?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201168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0"/>
                </a:solidFill>
                <a:latin typeface="Calibri"/>
              </a:rPr>
              <a:t>Criterion: &gt; 50% of retrained baseline on ≥ 2 unseen topologies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3017520"/>
            <a:ext cx="4297680" cy="1755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1168" y="3017520"/>
            <a:ext cx="502920" cy="17556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5176" y="3611879"/>
            <a:ext cx="4023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090672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3A"/>
                </a:solidFill>
                <a:latin typeface="Calibri"/>
              </a:rPr>
              <a:t>Does GNN-DynPen recover faster after a runtime topology change?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950208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0"/>
                </a:solidFill>
                <a:latin typeface="Calibri"/>
              </a:rPr>
              <a:t>Criterion: Fewer episodes-to-recovery in majority of regimes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1728" y="3017520"/>
            <a:ext cx="4297680" cy="1755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81728" y="3017520"/>
            <a:ext cx="502920" cy="17556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45736" y="3611879"/>
            <a:ext cx="4023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RQ4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3090672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3A"/>
                </a:solidFill>
                <a:latin typeface="Calibri"/>
              </a:rPr>
              <a:t>Does adding backtracking provide benefit on top of fine-tuning alone?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950208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0"/>
                </a:solidFill>
                <a:latin typeface="Calibri"/>
              </a:rPr>
              <a:t>Criterion: FT + BT outperforms FT-only on return &amp; ETR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16459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B3A"/>
                </a:solidFill>
                <a:latin typeface="Calibri"/>
              </a:rPr>
              <a:t>Results — RQ1: Convergence on Training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65836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70"/>
                </a:solidFill>
                <a:latin typeface="Calibri"/>
              </a:rPr>
              <a:t>GNN-DynPen reaches 91.5% of baseline return (criterion: ≥ 90%)  ✓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914400"/>
            <a:ext cx="8741664" cy="22860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q1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005840"/>
            <a:ext cx="6035040" cy="3017520"/>
          </a:xfrm>
          <a:prstGeom prst="rect">
            <a:avLst/>
          </a:prstGeom>
        </p:spPr>
      </p:pic>
      <p:pic>
        <p:nvPicPr>
          <p:cNvPr id="7" name="Picture 6" descr="rq1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05840"/>
            <a:ext cx="2633472" cy="3017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01168" y="4133087"/>
            <a:ext cx="8741664" cy="78638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4178808"/>
            <a:ext cx="8503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✓  GNN converges to 91.5% of baseline — criterion met.   Slightly slower early convergence (GNN encodes relational structure = richer but noisier gradients).   Final performance is statistically equivalent across 5 seeds.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16459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B3A"/>
                </a:solidFill>
                <a:latin typeface="Calibri"/>
              </a:rPr>
              <a:t>Results — RQ2: Zero-Shot Generalisation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65836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70"/>
                </a:solidFill>
                <a:latin typeface="Calibri"/>
              </a:rPr>
              <a:t>One trained policy, no fine-tuning, evaluated on 3 unseen topology sizes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914400"/>
            <a:ext cx="8741664" cy="22860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q2_generali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024128"/>
            <a:ext cx="64008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48272" y="10241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B3A"/>
                </a:solidFill>
                <a:latin typeface="Calibri"/>
              </a:rP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8272" y="1417320"/>
            <a:ext cx="21945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>
                <a:solidFill>
                  <a:srgbClr val="556570"/>
                </a:solidFill>
                <a:latin typeface="Calibri"/>
              </a:rPr>
              <a:t>3-host:  91% of baseline ✓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556570"/>
                </a:solidFill>
                <a:latin typeface="Calibri"/>
              </a:rPr>
              <a:t>8-host:  64% of baseline ✓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556570"/>
                </a:solidFill>
                <a:latin typeface="Calibri"/>
              </a:rPr>
              <a:t>10-host: 54% of baseline ✓</a:t>
            </a:r>
          </a:p>
          <a:p>
            <a:pPr>
              <a:spcAft>
                <a:spcPts val="300"/>
              </a:spcAft>
            </a:pPr>
            <a:endParaRPr sz="1150">
              <a:solidFill>
                <a:srgbClr val="556570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556570"/>
                </a:solidFill>
                <a:latin typeface="Calibri"/>
              </a:rPr>
              <a:t>All 3 exceed the 50%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556570"/>
                </a:solidFill>
                <a:latin typeface="Calibri"/>
              </a:rPr>
              <a:t>criterion → RQ2 satisfied.</a:t>
            </a:r>
          </a:p>
          <a:p>
            <a:pPr>
              <a:spcAft>
                <a:spcPts val="300"/>
              </a:spcAft>
            </a:pPr>
            <a:endParaRPr sz="1150">
              <a:solidFill>
                <a:srgbClr val="556570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556570"/>
                </a:solidFill>
                <a:latin typeface="Calibri"/>
              </a:rPr>
              <a:t>Baseline must retrain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556570"/>
                </a:solidFill>
                <a:latin typeface="Calibri"/>
              </a:rPr>
              <a:t>completely for each size.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556570"/>
                </a:solidFill>
                <a:latin typeface="Calibri"/>
              </a:rPr>
              <a:t>GNN transfers instantly.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4315968"/>
            <a:ext cx="8741664" cy="60350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4352544"/>
            <a:ext cx="8503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✓  GNN generalises zero-shot to all three unseen topologies — criterion met.  Performance gap widens with network size (10-host: 54%) — expected; larger graphs need more training.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16459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B3A"/>
                </a:solidFill>
                <a:latin typeface="Calibri"/>
              </a:rPr>
              <a:t>Results — RQ3: Dynamic Adaptation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65836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70"/>
                </a:solidFill>
                <a:latin typeface="Calibri"/>
              </a:rPr>
              <a:t>GNN-DynPen recovers 43% faster on average across 5 topology-change regimes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914400"/>
            <a:ext cx="8741664" cy="22860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q3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024128"/>
            <a:ext cx="8741664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1168" y="4315968"/>
            <a:ext cx="8741664" cy="603504"/>
          </a:xfrm>
          <a:prstGeom prst="rect">
            <a:avLst/>
          </a:prstGeom>
          <a:solidFill>
            <a:srgbClr val="E3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4352544"/>
            <a:ext cx="8503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✓  GNN recovers faster in all 5 regimes — criterion met.  Largest gain: property change (50% speedup) — GNN re-encodes updated node features naturally.  Honeypot regime is hardest (deceptive reward) but GNN still 33% faster.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16459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B3A"/>
                </a:solidFill>
                <a:latin typeface="Calibri"/>
              </a:rPr>
              <a:t>Results — RQ4: Backtracking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65836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70"/>
                </a:solidFill>
                <a:latin typeface="Calibri"/>
              </a:rPr>
              <a:t>Fine-tuning + Backtracking outperforms fine-tuning alone on both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914400"/>
            <a:ext cx="8741664" cy="22860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q4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024128"/>
            <a:ext cx="8741664" cy="32186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1168" y="4315968"/>
            <a:ext cx="8741664" cy="60350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4352544"/>
            <a:ext cx="8503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0"/>
                </a:solidFill>
                <a:latin typeface="Calibri"/>
              </a:rPr>
              <a:t>✓  FT + BT &gt; FT-only — criterion met.  Frozen policy collapses after change (return 4.1) — fine-tuning is essential.  Backtracking on top of FT adds +15% return and −26% recovery time by re-using valid trajectory prefixes.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16459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B3A"/>
                </a:solidFill>
                <a:latin typeface="Calibri"/>
              </a:rPr>
              <a:t>Comparison with DynPen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65836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70"/>
                </a:solidFill>
                <a:latin typeface="Calibri"/>
              </a:rPr>
              <a:t>GNN-DynPen vs Li et al. (IEEE TIFS 2024)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914400"/>
            <a:ext cx="8741664" cy="22860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omparison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51560"/>
            <a:ext cx="8741664" cy="2103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1168" y="3310128"/>
            <a:ext cx="205740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01168" y="3310128"/>
            <a:ext cx="2057400" cy="34747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33467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373075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C8EC2"/>
                </a:solidFill>
                <a:latin typeface="Calibri"/>
              </a:rPr>
              <a:t>91.5%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4389120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0"/>
                </a:solidFill>
                <a:latin typeface="Calibri"/>
              </a:rPr>
              <a:t>of baseline
return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95728" y="3310128"/>
            <a:ext cx="205740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95728" y="3310128"/>
            <a:ext cx="2057400" cy="34747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87168" y="33467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373075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C8EC2"/>
                </a:solidFill>
                <a:latin typeface="Calibri"/>
              </a:rPr>
              <a:t>3 /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4389120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0"/>
                </a:solidFill>
                <a:latin typeface="Calibri"/>
              </a:rPr>
              <a:t>topologies
generalised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90288" y="3310128"/>
            <a:ext cx="205740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90288" y="3310128"/>
            <a:ext cx="2057400" cy="34747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81727" y="33467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7" y="373075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C8EC2"/>
                </a:solidFill>
                <a:latin typeface="Calibri"/>
              </a:rPr>
              <a:t>43%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7" y="4389120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0"/>
                </a:solidFill>
                <a:latin typeface="Calibri"/>
              </a:rPr>
              <a:t>faster
recovery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7" y="3310128"/>
            <a:ext cx="205740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784847" y="3310128"/>
            <a:ext cx="2057400" cy="34747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76287" y="33467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RQ4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7" y="373075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C8EC2"/>
                </a:solidFill>
                <a:latin typeface="Calibri"/>
              </a:rPr>
              <a:t>+15%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7" y="4389120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0"/>
                </a:solidFill>
                <a:latin typeface="Calibri"/>
              </a:rPr>
              <a:t>return with
backtracking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16459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B3A"/>
                </a:solidFill>
                <a:latin typeface="Calibri"/>
              </a:rPr>
              <a:t>Future Work &amp; Extensions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65836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70"/>
                </a:solidFill>
                <a:latin typeface="Calibri"/>
              </a:rPr>
              <a:t>Six directions to strengthen and extend GNN-DynPen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914400"/>
            <a:ext cx="8741664" cy="22860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1168" y="1078992"/>
            <a:ext cx="2834640" cy="17556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1168" y="1078992"/>
            <a:ext cx="54864" cy="1755648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" y="1133856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  <a:latin typeface="Calibri"/>
              </a:rPr>
              <a:t>Larger Topologies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536192"/>
            <a:ext cx="26334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0"/>
                </a:solidFill>
                <a:latin typeface="Calibri"/>
              </a:rPr>
              <a:t>Test on 20–50 host NASim scenarios and custom enterprise YAML configs to validate scalability beyond 10 hosts.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72968" y="1078992"/>
            <a:ext cx="2834640" cy="17556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72968" y="1078992"/>
            <a:ext cx="54864" cy="1755648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00984" y="1133856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  <a:latin typeface="Calibri"/>
              </a:rPr>
              <a:t>PPO / Actor-Critic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0984" y="1536192"/>
            <a:ext cx="26334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0"/>
                </a:solidFill>
                <a:latin typeface="Calibri"/>
              </a:rPr>
              <a:t>Replace DQN with PPO for continuous action spaces and better gradient estimates on sparse reward signals.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078992"/>
            <a:ext cx="2834640" cy="17556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44768" y="1078992"/>
            <a:ext cx="54864" cy="17556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72783" y="1133856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  <a:latin typeface="Calibri"/>
              </a:rPr>
              <a:t>Multi-Agent 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3" y="1536192"/>
            <a:ext cx="26334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0"/>
                </a:solidFill>
                <a:latin typeface="Calibri"/>
              </a:rPr>
              <a:t>Extend to cooperative multi-agent setting — multiple attacker agents with shared GNN encoder and independent policies.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" y="3017520"/>
            <a:ext cx="2834640" cy="17556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01168" y="3017520"/>
            <a:ext cx="54864" cy="17556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9184" y="3072384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  <a:latin typeface="Calibri"/>
              </a:rPr>
              <a:t>Real Vulnerability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" y="3474720"/>
            <a:ext cx="26334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0"/>
                </a:solidFill>
                <a:latin typeface="Calibri"/>
              </a:rPr>
              <a:t>Use CVE-based vulnerability embeddings as node features instead of synthetic NASim attributes.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72968" y="3017520"/>
            <a:ext cx="2834640" cy="17556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172968" y="3017520"/>
            <a:ext cx="54864" cy="1755648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00984" y="3072384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  <a:latin typeface="Calibri"/>
              </a:rPr>
              <a:t>Explainability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00984" y="3474720"/>
            <a:ext cx="26334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0"/>
                </a:solidFill>
                <a:latin typeface="Calibri"/>
              </a:rPr>
              <a:t>Apply GNN explainability tools (GNNExplainer) to identify which network edges and node features drive attack decisions.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3017520"/>
            <a:ext cx="2834640" cy="17556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44768" y="3017520"/>
            <a:ext cx="54864" cy="1755648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72783" y="3072384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  <a:latin typeface="Calibri"/>
              </a:rPr>
              <a:t>Defender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2783" y="3474720"/>
            <a:ext cx="26334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0"/>
                </a:solidFill>
                <a:latin typeface="Calibri"/>
              </a:rPr>
              <a:t>Add a GNN-based defender agent — model PT as a two-player zero-sum game for more realistic threat modelling.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8072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36576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417320" cy="356616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9968" y="1143000"/>
            <a:ext cx="6720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4"/>
                </a:solidFill>
                <a:latin typeface="Calibri"/>
              </a:rPr>
              <a:t>DynPen's flat-matrix state is non-transferable across topology sizes.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63624"/>
            <a:ext cx="1417320" cy="356616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591056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1591056"/>
            <a:ext cx="6720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4"/>
                </a:solidFill>
                <a:latin typeface="Calibri"/>
              </a:rPr>
              <a:t>Replaced state encoder with GraphSAGE GNN — permutation- and size-invariant.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11680"/>
            <a:ext cx="1417320" cy="356616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03911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RQ1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2039112"/>
            <a:ext cx="6720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4"/>
                </a:solidFill>
                <a:latin typeface="Calibri"/>
              </a:rPr>
              <a:t>GNN converges to 91.5% of baseline on the training topology.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59736"/>
            <a:ext cx="1417320" cy="356616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487168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RQ2 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2487168"/>
            <a:ext cx="6720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4"/>
                </a:solidFill>
                <a:latin typeface="Calibri"/>
              </a:rPr>
              <a:t>Zero-shot transfer to 3-host, 8-host, 10-host networks without retraining.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07792"/>
            <a:ext cx="1417320" cy="356616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2935224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RQ3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2935224"/>
            <a:ext cx="6720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4"/>
                </a:solidFill>
                <a:latin typeface="Calibri"/>
              </a:rPr>
              <a:t>43% faster recovery after runtime topology changes on average.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55848"/>
            <a:ext cx="1417320" cy="356616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383280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RQ4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8" y="3383280"/>
            <a:ext cx="6720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4"/>
                </a:solidFill>
                <a:latin typeface="Calibri"/>
              </a:rPr>
              <a:t>Backtracking on top of fine-tuning adds +15% return and −26% recovery 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803904"/>
            <a:ext cx="1417320" cy="356616"/>
          </a:xfrm>
          <a:prstGeom prst="rect">
            <a:avLst/>
          </a:prstGeom>
          <a:solidFill>
            <a:srgbClr val="4C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831336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3831336"/>
            <a:ext cx="6720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4"/>
                </a:solidFill>
                <a:latin typeface="Calibri"/>
              </a:rPr>
              <a:t>One GNN policy replaces N separate fixed-topology policies.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16</TotalTime>
  <Words>1223</Words>
  <Application>Microsoft Office PowerPoint</Application>
  <PresentationFormat>Custom</PresentationFormat>
  <Paragraphs>200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Trebuchet MS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Al-Qassami</cp:lastModifiedBy>
  <cp:revision>4</cp:revision>
  <dcterms:created xsi:type="dcterms:W3CDTF">2013-01-27T09:14:16Z</dcterms:created>
  <dcterms:modified xsi:type="dcterms:W3CDTF">2026-05-19T19:16:51Z</dcterms:modified>
  <cp:category/>
</cp:coreProperties>
</file>